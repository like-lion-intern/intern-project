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강의 분석 리포트 생성기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71600" y="146304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00"/>
              <a:buFont typeface="Georgia"/>
              <a:buNone/>
            </a:pPr>
            <a:r>
              <a:rPr b="1" i="0" lang="en-US" sz="6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PROGRESS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6800"/>
              <a:buFont typeface="Georgia"/>
              <a:buNone/>
            </a:pPr>
            <a:r>
              <a:rPr b="1" i="0" lang="en-US" sz="6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REPORT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2주차 중간점검  ·  AI 강의 분석 리포트 생성기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멋쟁이사자처럼 AI 엔지니어 자연어처리과정 (NLP)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4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" y="5029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STT 기반 강의 스크립트를 NLP 기술로 분석하여 강사에게 강의력 개선 인사이트를 제공하는 자동 분석 리포트 시스템을 구축합니다.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502920" y="1901952"/>
            <a:ext cx="187452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502920" y="20116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목표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2423160"/>
            <a:ext cx="1920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스크립트 자동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강사 강의력 평가 리포트 생성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2587752" y="1901952"/>
            <a:ext cx="187452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2587752" y="20116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분석 대상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587752" y="2423160"/>
            <a:ext cx="1920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STT 강의 스크립트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메타데이터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품질 평가 기준 (Rubric)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4672584" y="1901952"/>
            <a:ext cx="187452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4672584" y="20116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핵심 기술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72584" y="2423160"/>
            <a:ext cx="1920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텍스트 전처리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의미 기반 세그멘테이션 (E5)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기반 평가 (5 카테고리)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6757416" y="1901952"/>
            <a:ext cx="187452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4"/>
          <p:cNvSpPr/>
          <p:nvPr/>
        </p:nvSpPr>
        <p:spPr>
          <a:xfrm>
            <a:off x="6757416" y="20116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기간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757416" y="2423160"/>
            <a:ext cx="19202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4주 / 총 60시간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현재: 2주차 중간점검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5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5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5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분석 파이프라인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2920" y="5029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Analysis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원본 데이터 수신부터 최종 리포트 생성까지 5단계 파이프라인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84048" y="171907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984248" y="1719072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384048" y="22128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데이터 전처리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84048" y="2761488"/>
            <a:ext cx="1554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Timestamp 보정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세션 분리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Macro Segmentation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Feature 추출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04088" y="4462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093976" y="171907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3694176" y="1719072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/>
          <p:nvPr/>
        </p:nvSpPr>
        <p:spPr>
          <a:xfrm>
            <a:off x="2093976" y="22128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분석 LLM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093976" y="2761488"/>
            <a:ext cx="1554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5개 카테고리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독립 LLM 호출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근거 span 추출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개선 포인트 도출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414016" y="4462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803904" y="171907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5404104" y="1719072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/>
          <p:nvPr/>
        </p:nvSpPr>
        <p:spPr>
          <a:xfrm>
            <a:off x="3803904" y="22128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강의 단위 집계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803904" y="2761488"/>
            <a:ext cx="1554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Segment 결과 집계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강의 요약 정리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Feature Vector 생성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123944" y="4462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예정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513832" y="171907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7114032" y="1719072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5513832" y="22128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Trajectory 분석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513832" y="2761488"/>
            <a:ext cx="1554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주차별 벡터 비교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강사 반복 패턴 추출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(고도화 예정)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833872" y="4462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예정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223760" y="171907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223760" y="221284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리포트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223760" y="2761488"/>
            <a:ext cx="1554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강점 / 취약점 요약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Actionable Insight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리포트 출력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543800" y="446227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예정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6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2주차 산출물 현황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Week 2 Deliverables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6"/>
          <p:cNvCxnSpPr/>
          <p:nvPr/>
        </p:nvCxnSpPr>
        <p:spPr>
          <a:xfrm>
            <a:off x="502920" y="1170432"/>
            <a:ext cx="2852928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6"/>
          <p:cNvSpPr/>
          <p:nvPr/>
        </p:nvSpPr>
        <p:spPr>
          <a:xfrm>
            <a:off x="502920" y="1188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산출물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3520440" y="1170432"/>
            <a:ext cx="2029968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3520440" y="11887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담당 모듈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5715000" y="1170432"/>
            <a:ext cx="1207008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5715000" y="11887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상태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7086600" y="1170432"/>
            <a:ext cx="1801368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7086600" y="118872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비고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502920" y="1490472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502920" y="1572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전처리 파이프라인 코드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520440" y="15727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715000" y="15727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086600" y="157276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전 단계 구현 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11480" y="1874520"/>
            <a:ext cx="8503920" cy="32918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02920" y="19110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E5 모델 세그멘테이션 결과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520440" y="191109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Macro Segmentation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5715000" y="19110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7086600" y="191109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e5-large 채택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22494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모델 비교 분석 (E5 vs BGE)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520440" y="224942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모델 선정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715000" y="22494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7086600" y="224942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정량 근거 CSV 포함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11480" y="2551176"/>
            <a:ext cx="8503920" cy="32918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02920" y="25877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휴리스틱 Feature 추출 모듈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520440" y="258775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정량 Feature 추출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715000" y="25877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086600" y="258775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6개 지표 구현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02920" y="2926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분석 LLM (카테고리별 5회)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520440" y="292608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분석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715000" y="29260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086600" y="292608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rubric.json 기반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11480" y="3227832"/>
            <a:ext cx="8503920" cy="32918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02920" y="32644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 출력 스키마 및 응답 예시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520440" y="32644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분석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715000" y="32644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086600" y="3264408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날짜별 JSON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02920" y="360273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강의 단위 집계 모듈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520440" y="360273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집계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715000" y="36027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진행중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086600" y="3602736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3주차 완료 예정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11480" y="3904488"/>
            <a:ext cx="8503920" cy="32918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502920" y="394106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리포트 생성 엔진 및 대시보드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520440" y="39410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리포트 생성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715000" y="394106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예정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086600" y="394106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3주차 구현 예정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02920" y="42793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Trajectory 분석 모듈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520440" y="42793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Trajectory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715000" y="42793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예정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086600" y="4279392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4주차 고도화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7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Data Preprocessing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502920" y="117043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원본 STT 로그를 분석 가능한 구조화 데이터로 변환하는 5단계 전처리 파이프라인 구현 완료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502920" y="1691640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7"/>
          <p:cNvSpPr/>
          <p:nvPr/>
        </p:nvSpPr>
        <p:spPr>
          <a:xfrm>
            <a:off x="713232" y="17099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① Timestamp 보정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13232" y="1947672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12h/24h wrap 보정 로직으로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오전·오후 시간 리셋되는 STT 로그 보정 처리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>
            <a:off x="502920" y="2304288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713232" y="23225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② 세션 분리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13232" y="2560320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시간 gap + 힌트 키워드 기반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오전 / 오후 세션 자동 분리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502920" y="2916936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713232" y="29352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③ Macro Segmentation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13232" y="3172968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임베딩 유사도 하락 + 시간 gap + 전이 표현 결합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복습 / 개념설명 / 예제 / 실습 단위 분할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502920" y="3529584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713232" y="35478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④ Segment 태깅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13232" y="3785616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Explanation / Example / Practice /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라벨 부여, sub-label은 semantic chunk 단위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502920" y="4142232"/>
            <a:ext cx="0" cy="475488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713232" y="4160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⑤ 정량 Feature 추출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13232" y="4398264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질문 수·예시 수·실습 지시 비율·반복 표현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전문용어 밀도·Discourse Marker 밀도 등 6개 지표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8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8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8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8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E5 모델 선정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Model Selection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8"/>
          <p:cNvSpPr/>
          <p:nvPr/>
        </p:nvSpPr>
        <p:spPr>
          <a:xfrm>
            <a:off x="502920" y="1170432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Macro Segmentation 모델 비교 실험 결과  →  multilingual-e5-large 최종 채택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502920" y="1691640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502920" y="17373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multilingual-e5-large  (채택)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02920" y="22860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평균 Segment 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02920" y="25420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35.0개  (안정적)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02920" y="29077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흐름 해석 가능성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02920" y="31638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도입-설명-정리 단위로 사람이 검토하기 쉬움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02920" y="35295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LLM 입력 적합성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02920" y="378561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문맥 유지에 적합한 크기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02920" y="41513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리스크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02920" y="44074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보수적 경계 → 임계값 튜닝으로 보완 가능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8"/>
          <p:cNvCxnSpPr/>
          <p:nvPr/>
        </p:nvCxnSpPr>
        <p:spPr>
          <a:xfrm>
            <a:off x="4892040" y="1691640"/>
            <a:ext cx="4160520" cy="0"/>
          </a:xfrm>
          <a:prstGeom prst="straightConnector1">
            <a:avLst/>
          </a:prstGeom>
          <a:noFill/>
          <a:ln cap="flat" cmpd="sng" w="101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8"/>
          <p:cNvSpPr/>
          <p:nvPr/>
        </p:nvSpPr>
        <p:spPr>
          <a:xfrm>
            <a:off x="4892040" y="173736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BAAI/bge-m3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92040" y="22860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평균 Segment 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892040" y="25420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123.3개  (과분할)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892040" y="29077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흐름 해석 가능성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92040" y="3163824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노이즈 경계 과검출로 검토 부담 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892040" y="35295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LLM 입력 적합성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892040" y="3785616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너무 잘게 쪼개져 문맥 손실 위험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892040" y="41513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리스크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892040" y="44074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민감도 과잉 → 튜닝 비용 큼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343400" y="306324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9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9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9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9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분석 LLM 구성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Analysis LLM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9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9"/>
          <p:cNvSpPr/>
          <p:nvPr/>
        </p:nvSpPr>
        <p:spPr>
          <a:xfrm>
            <a:off x="502920" y="117043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전처리 Segment 데이터를 입력받아, 핵심 근거 문장(evidence)과 맥락을 함께 참조하여 항목별 강의 상태를 진단합니다.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>
            <a:off x="502920" y="1719072"/>
            <a:ext cx="0" cy="566928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/>
          <p:nvPr/>
        </p:nvSpPr>
        <p:spPr>
          <a:xfrm>
            <a:off x="685800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①  강의 메타데이터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85800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강사명, 강의 일자, 커리큘럼 정보 등 기본 정보 (CSV)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502920" y="2450592"/>
            <a:ext cx="0" cy="566928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685800" y="24688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②  구간 텍스트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85800" y="272491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발화 수 기준으로 나눈 강의 본문 — LLM이 실제로 읽고 판단하는 주요 입력값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502920" y="3182112"/>
            <a:ext cx="0" cy="566928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9"/>
          <p:cNvSpPr/>
          <p:nvPr/>
        </p:nvSpPr>
        <p:spPr>
          <a:xfrm>
            <a:off x="685800" y="32004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③  핵심 근거 문장 (상위 3개)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85800" y="345643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룰 베이스 분석 + E5 임베딩 유사도를 결합해 사전 추출한 evidence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502920" y="3913632"/>
            <a:ext cx="0" cy="566928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685800" y="3931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④  근거 문장 앞뒤 3문장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5800" y="4187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LLM이 발화의 전후 맥락을 파악할 수 있도록 제공하는 보조 문장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9"/>
          <p:cNvCxnSpPr/>
          <p:nvPr/>
        </p:nvCxnSpPr>
        <p:spPr>
          <a:xfrm>
            <a:off x="4754880" y="1627632"/>
            <a:ext cx="0" cy="306324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4983480" y="16642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LLM 판단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83480" y="214884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321808" y="21488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구간 텍스트를 읽고 각 평가 항목의 강의 상태 진단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983480" y="2807208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321808" y="2807208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메타데이터 커리큘럼과 실제 강의 내용 일치 여부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983480" y="3465576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321808" y="3465576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강의 구간 특성에 따라 항목별 가중치 차등 적용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983480" y="4123944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321808" y="4123944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구간·발화 단위 결과를 바탕으로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weak / neutral / strong 최종 라벨로 통합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10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10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0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0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 출력 스키마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02920" y="5029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Structured Output Schema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0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0"/>
          <p:cNvSpPr/>
          <p:nvPr/>
        </p:nvSpPr>
        <p:spPr>
          <a:xfrm>
            <a:off x="502920" y="117043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분석 LLM은 평가 항목(item)별로 결과를 구조화된 형태로 출력하며, 판단 근거·신뢰도·개선 포인트를 함께 기록합니다.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0"/>
          <p:cNvCxnSpPr/>
          <p:nvPr/>
        </p:nvCxnSpPr>
        <p:spPr>
          <a:xfrm>
            <a:off x="502920" y="1682496"/>
            <a:ext cx="164592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10"/>
          <p:cNvSpPr/>
          <p:nvPr/>
        </p:nvSpPr>
        <p:spPr>
          <a:xfrm>
            <a:off x="502920" y="17007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필드명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0"/>
          <p:cNvCxnSpPr/>
          <p:nvPr/>
        </p:nvCxnSpPr>
        <p:spPr>
          <a:xfrm>
            <a:off x="2331720" y="1682496"/>
            <a:ext cx="114300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0"/>
          <p:cNvSpPr/>
          <p:nvPr/>
        </p:nvSpPr>
        <p:spPr>
          <a:xfrm>
            <a:off x="2331720" y="17007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타입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10"/>
          <p:cNvCxnSpPr/>
          <p:nvPr/>
        </p:nvCxnSpPr>
        <p:spPr>
          <a:xfrm>
            <a:off x="3657600" y="1682496"/>
            <a:ext cx="19202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0"/>
          <p:cNvSpPr/>
          <p:nvPr/>
        </p:nvSpPr>
        <p:spPr>
          <a:xfrm>
            <a:off x="3657600" y="17007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설명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>
            <a:off x="5760720" y="1682496"/>
            <a:ext cx="288036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0"/>
          <p:cNvSpPr/>
          <p:nvPr/>
        </p:nvSpPr>
        <p:spPr>
          <a:xfrm>
            <a:off x="5760720" y="1700784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예시 / 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502920" y="2002536"/>
            <a:ext cx="841248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10"/>
          <p:cNvSpPr/>
          <p:nvPr/>
        </p:nvSpPr>
        <p:spPr>
          <a:xfrm>
            <a:off x="502920" y="21031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item_name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331720" y="210312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657600" y="2103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평가 항목명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5760720" y="210312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"불필요한 반복 표현"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11480" y="2697480"/>
            <a:ext cx="8503920" cy="60350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502920" y="27432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331720" y="274320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enum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0" y="27432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최종 진단 결과 (가중치 + 근거 종합)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760720" y="274320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weak  /  neutral  /  strong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02920" y="338328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confidence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331720" y="338328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657600" y="33832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판단 신뢰도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760720" y="33832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0.0 ~ 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11480" y="3977640"/>
            <a:ext cx="8503920" cy="603504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F7F7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02920" y="40233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331720" y="4023360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657600" y="40233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근거 발화 span_text, 앞뒤 맥락, 신뢰 강도(high/mid/low), 진단 이유(reason)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760720" y="402336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{ span_text, context, strength, reason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11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1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1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1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5개 카테고리 평가 체계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02920" y="5029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Evaluation Categories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1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1"/>
          <p:cNvSpPr/>
          <p:nvPr/>
        </p:nvSpPr>
        <p:spPr>
          <a:xfrm>
            <a:off x="502920" y="1170432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체크리스트 5개 카테고리 · 18개 항목을 기반으로 카테고리별 독립 LLM 호출 구조 설계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1"/>
          <p:cNvCxnSpPr/>
          <p:nvPr/>
        </p:nvCxnSpPr>
        <p:spPr>
          <a:xfrm>
            <a:off x="384048" y="1664208"/>
            <a:ext cx="155448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/>
          <p:nvPr/>
        </p:nvSpPr>
        <p:spPr>
          <a:xfrm>
            <a:off x="384048" y="1737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 1  3개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84048" y="206654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언어 표현 품질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84048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불필요한 반복 표현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발화 완결성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언어 일관성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11"/>
          <p:cNvCxnSpPr/>
          <p:nvPr/>
        </p:nvCxnSpPr>
        <p:spPr>
          <a:xfrm>
            <a:off x="2011680" y="1664208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11"/>
          <p:cNvCxnSpPr/>
          <p:nvPr/>
        </p:nvCxnSpPr>
        <p:spPr>
          <a:xfrm>
            <a:off x="2093976" y="1664208"/>
            <a:ext cx="155448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1"/>
          <p:cNvSpPr/>
          <p:nvPr/>
        </p:nvSpPr>
        <p:spPr>
          <a:xfrm>
            <a:off x="2093976" y="1737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 2  5개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2093976" y="206654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강의 도입 및 구조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093976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학습 목표 안내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전날 복습 연계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설명 순서 / 핵심 강조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마무리 요약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1"/>
          <p:cNvCxnSpPr/>
          <p:nvPr/>
        </p:nvCxnSpPr>
        <p:spPr>
          <a:xfrm>
            <a:off x="3721608" y="1664208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1"/>
          <p:cNvCxnSpPr/>
          <p:nvPr/>
        </p:nvCxnSpPr>
        <p:spPr>
          <a:xfrm>
            <a:off x="3803904" y="1664208"/>
            <a:ext cx="155448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1"/>
          <p:cNvSpPr/>
          <p:nvPr/>
        </p:nvSpPr>
        <p:spPr>
          <a:xfrm>
            <a:off x="3803904" y="1737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 3  4개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803904" y="206654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개념 설명 명확성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3803904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개념 정의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비유 / 예시 활용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선행 개념 확인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발화 속도 적절성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1"/>
          <p:cNvCxnSpPr/>
          <p:nvPr/>
        </p:nvCxnSpPr>
        <p:spPr>
          <a:xfrm>
            <a:off x="5431536" y="1664208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1"/>
          <p:cNvCxnSpPr/>
          <p:nvPr/>
        </p:nvCxnSpPr>
        <p:spPr>
          <a:xfrm>
            <a:off x="5513832" y="1664208"/>
            <a:ext cx="155448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1"/>
          <p:cNvSpPr/>
          <p:nvPr/>
        </p:nvSpPr>
        <p:spPr>
          <a:xfrm>
            <a:off x="5513832" y="1737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 4  3개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513832" y="206654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예시 및 실습 연계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513832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예시 적절성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실습 연계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오류 대응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1"/>
          <p:cNvCxnSpPr/>
          <p:nvPr/>
        </p:nvCxnSpPr>
        <p:spPr>
          <a:xfrm>
            <a:off x="7141464" y="1664208"/>
            <a:ext cx="0" cy="301752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1"/>
          <p:cNvCxnSpPr/>
          <p:nvPr/>
        </p:nvCxnSpPr>
        <p:spPr>
          <a:xfrm>
            <a:off x="7223760" y="1664208"/>
            <a:ext cx="1554480" cy="0"/>
          </a:xfrm>
          <a:prstGeom prst="straightConnector1">
            <a:avLst/>
          </a:prstGeom>
          <a:noFill/>
          <a:ln cap="flat" cmpd="sng" w="152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1"/>
          <p:cNvSpPr/>
          <p:nvPr/>
        </p:nvSpPr>
        <p:spPr>
          <a:xfrm>
            <a:off x="7223760" y="17373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Cat 5  3개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7223760" y="2066544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수강생 상호작용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223760" y="2743200"/>
            <a:ext cx="1554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이해 확인 질문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참여 유도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질문 응답 충분성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2286000" y="4553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Georgia"/>
              <a:buNone/>
            </a:pPr>
            <a:r>
              <a:rPr b="0" i="1" lang="en-US" sz="100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총 5개 카테고리  ·  18개 평가 항목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12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2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2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12"/>
          <p:cNvSpPr/>
          <p:nvPr/>
        </p:nvSpPr>
        <p:spPr>
          <a:xfrm>
            <a:off x="6858000" y="4828032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향후 계획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02920" y="50292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Upcoming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2"/>
          <p:cNvCxnSpPr/>
          <p:nvPr/>
        </p:nvCxnSpPr>
        <p:spPr>
          <a:xfrm>
            <a:off x="502920" y="10515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2"/>
          <p:cNvCxnSpPr/>
          <p:nvPr/>
        </p:nvCxnSpPr>
        <p:spPr>
          <a:xfrm>
            <a:off x="502920" y="1188720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2"/>
          <p:cNvSpPr/>
          <p:nvPr/>
        </p:nvSpPr>
        <p:spPr>
          <a:xfrm>
            <a:off x="502920" y="12618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3주차  리포트 생성 및 시각화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0292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Georgia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주요 과제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02920" y="204825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강의 단위 집계 모듈 완성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02920" y="2432304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리포트 템플릿 설계 및 자동 생성 엔진 구현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02920" y="281635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Streamlit / Gradio 대시보드 UI 구현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02920" y="32004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주차별 강의력 변화 추이 분석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1" name="Google Shape;331;p12"/>
          <p:cNvCxnSpPr/>
          <p:nvPr/>
        </p:nvCxnSpPr>
        <p:spPr>
          <a:xfrm>
            <a:off x="2532888" y="1737360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2"/>
          <p:cNvSpPr/>
          <p:nvPr/>
        </p:nvSpPr>
        <p:spPr>
          <a:xfrm>
            <a:off x="265176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Georgia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기대 산출물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651760" y="204825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강의 단위 집계 코드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651760" y="243230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리포트 생성 코드 및 샘플 리포트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651760" y="281635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대시보드 프로토타입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2651760" y="3200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추이 분석 차트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2"/>
          <p:cNvCxnSpPr/>
          <p:nvPr/>
        </p:nvCxnSpPr>
        <p:spPr>
          <a:xfrm>
            <a:off x="4892040" y="1188720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2"/>
          <p:cNvSpPr/>
          <p:nvPr/>
        </p:nvSpPr>
        <p:spPr>
          <a:xfrm>
            <a:off x="4892040" y="12618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4주차  고도화 및 최종 제출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89204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Georgia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주요 과제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4892040" y="204825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Trajectory 분석 고도화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892040" y="2432304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분석 정확도 개선 및 엣지케이스 처리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892040" y="281635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리포트 출력 모듈 개발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892040" y="320040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최종 발표 준비 및 GitHub 정리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2"/>
          <p:cNvCxnSpPr/>
          <p:nvPr/>
        </p:nvCxnSpPr>
        <p:spPr>
          <a:xfrm>
            <a:off x="6922008" y="1737360"/>
            <a:ext cx="0" cy="288036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2"/>
          <p:cNvSpPr/>
          <p:nvPr/>
        </p:nvSpPr>
        <p:spPr>
          <a:xfrm>
            <a:off x="7040880" y="17373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50"/>
              <a:buFont typeface="Georgia"/>
              <a:buNone/>
            </a:pPr>
            <a:r>
              <a:rPr b="1" i="0" lang="en-US" sz="950" u="none" cap="none" strike="noStrike">
                <a:solidFill>
                  <a:srgbClr val="999999"/>
                </a:solidFill>
                <a:latin typeface="Georgia"/>
                <a:ea typeface="Georgia"/>
                <a:cs typeface="Georgia"/>
                <a:sym typeface="Georgia"/>
              </a:rPr>
              <a:t>기대 산출물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7040880" y="2048256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완성된 분석 리포트 샘플 3건 이상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7040880" y="243230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최종 보고서 (요약 / 결과 / 한계점)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040880" y="2816352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시연 영상 (5분)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7040880" y="32004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—  GitHub Repository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2"/>
          <p:cNvCxnSpPr/>
          <p:nvPr/>
        </p:nvCxnSpPr>
        <p:spPr>
          <a:xfrm>
            <a:off x="4572000" y="1188720"/>
            <a:ext cx="0" cy="347472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2"/>
          <p:cNvSpPr/>
          <p:nvPr/>
        </p:nvSpPr>
        <p:spPr>
          <a:xfrm>
            <a:off x="502920" y="453542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※ Trajectory 분석은 최종 발표 직전 고도화 단계에서 추가 구현 예정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Google Shape;357;p13"/>
          <p:cNvCxnSpPr/>
          <p:nvPr/>
        </p:nvCxnSpPr>
        <p:spPr>
          <a:xfrm>
            <a:off x="411480" y="347472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3"/>
          <p:cNvSpPr/>
          <p:nvPr/>
        </p:nvSpPr>
        <p:spPr>
          <a:xfrm>
            <a:off x="411480" y="1280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NLP 과제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57200" y="128016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Thank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3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3"/>
          <p:cNvSpPr/>
          <p:nvPr/>
        </p:nvSpPr>
        <p:spPr>
          <a:xfrm>
            <a:off x="4846320" y="482803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멋쟁이사자처럼 AI 엔지니어 자연어처리과정 (NLP)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